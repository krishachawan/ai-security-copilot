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2" r:id="rId7"/>
    <p:sldId id="275" r:id="rId8"/>
    <p:sldId id="273" r:id="rId9"/>
    <p:sldId id="274" r:id="rId10"/>
    <p:sldId id="276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753600" cy="7315200"/>
  <p:notesSz cx="6858000" cy="9144000"/>
  <p:embeddedFontLst>
    <p:embeddedFont>
      <p:font typeface="Calibri (MS)" panose="020B0604020202020204" charset="0"/>
      <p:regular r:id="rId23"/>
    </p:embeddedFont>
    <p:embeddedFont>
      <p:font typeface="Calibri (MS) Bold" panose="020B0604020202020204" charset="0"/>
      <p:regular r:id="rId24"/>
    </p:embeddedFont>
    <p:embeddedFont>
      <p:font typeface="Calibri (MS) Italics" panose="020B0604020202020204" charset="0"/>
      <p:regular r:id="rId25"/>
    </p:embeddedFont>
    <p:embeddedFont>
      <p:font typeface="Canva Sans Bold" panose="020B0604020202020204" charset="0"/>
      <p:regular r:id="rId26"/>
    </p:embeddedFont>
    <p:embeddedFont>
      <p:font typeface="Times New Roman Bold" panose="02020803070505020304" pitchFamily="18" charset="0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18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31520" y="780288"/>
            <a:ext cx="8290560" cy="3673078"/>
            <a:chOff x="0" y="0"/>
            <a:chExt cx="11054080" cy="48974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54080" cy="4897439"/>
            </a:xfrm>
            <a:custGeom>
              <a:avLst/>
              <a:gdLst/>
              <a:ahLst/>
              <a:cxnLst/>
              <a:rect l="l" t="t" r="r" b="b"/>
              <a:pathLst>
                <a:path w="11054080" h="4897439">
                  <a:moveTo>
                    <a:pt x="0" y="0"/>
                  </a:moveTo>
                  <a:lnTo>
                    <a:pt x="11054080" y="0"/>
                  </a:lnTo>
                  <a:lnTo>
                    <a:pt x="11054080" y="4897439"/>
                  </a:lnTo>
                  <a:lnTo>
                    <a:pt x="0" y="48974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22" b="1436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1054080" cy="4926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08"/>
                </a:lnSpc>
              </a:pPr>
              <a:r>
                <a:rPr lang="en-US" sz="384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       </a:t>
              </a:r>
            </a:p>
            <a:p>
              <a:pPr algn="ctr">
                <a:lnSpc>
                  <a:spcPts val="4608"/>
                </a:lnSpc>
              </a:pPr>
              <a:r>
                <a:rPr lang="en-US" sz="384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Capstone Project</a:t>
              </a:r>
            </a:p>
            <a:p>
              <a:pPr algn="ctr">
                <a:lnSpc>
                  <a:spcPts val="4608"/>
                </a:lnSpc>
              </a:pPr>
              <a:r>
                <a:rPr lang="en-US" sz="384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Midterm Presentation</a:t>
              </a:r>
            </a:p>
            <a:p>
              <a:pPr algn="ctr">
                <a:lnSpc>
                  <a:spcPts val="4608"/>
                </a:lnSpc>
              </a:pPr>
              <a:r>
                <a:rPr lang="en-US" sz="384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A.Y. 2026-2027</a:t>
              </a:r>
            </a:p>
            <a:p>
              <a:pPr algn="ctr">
                <a:lnSpc>
                  <a:spcPts val="4608"/>
                </a:lnSpc>
              </a:pPr>
              <a:r>
                <a:rPr lang="en-US" sz="384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Title: AI Security Copilot for Software Vulnerability Detection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2000" y="4495800"/>
            <a:ext cx="8606139" cy="231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59"/>
              </a:lnSpc>
            </a:pPr>
            <a:endParaRPr dirty="0"/>
          </a:p>
          <a:p>
            <a:pPr algn="just">
              <a:lnSpc>
                <a:spcPts val="2559"/>
              </a:lnSpc>
            </a:pPr>
            <a:r>
              <a:rPr lang="en-US" sz="2133" b="1" spc="-9" dirty="0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 : </a:t>
            </a:r>
          </a:p>
          <a:p>
            <a:pPr algn="just">
              <a:lnSpc>
                <a:spcPts val="2559"/>
              </a:lnSpc>
            </a:pPr>
            <a:r>
              <a:rPr lang="en-US" sz="2133" b="1" spc="-9" dirty="0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Manav </a:t>
            </a:r>
            <a:r>
              <a:rPr lang="en-US" sz="2133" b="1" spc="-9" dirty="0" err="1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Gangar</a:t>
            </a:r>
            <a:r>
              <a:rPr lang="en-US" sz="2133" spc="-9" dirty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lang="en-US" sz="2133" b="1" spc="-9" dirty="0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Krisha </a:t>
            </a:r>
            <a:r>
              <a:rPr lang="en-US" sz="2133" b="1" spc="-9" dirty="0" err="1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Chawan</a:t>
            </a:r>
            <a:r>
              <a:rPr lang="en-US" sz="2133" b="1" spc="-9" dirty="0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Jude Dsouza            Neel Vora</a:t>
            </a:r>
          </a:p>
          <a:p>
            <a:pPr algn="just">
              <a:lnSpc>
                <a:spcPts val="2559"/>
              </a:lnSpc>
            </a:pPr>
            <a:r>
              <a:rPr lang="en-US" sz="2133" b="1" spc="-9" dirty="0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70322100089         70322100171           70322100197          70322100049</a:t>
            </a:r>
          </a:p>
          <a:p>
            <a:pPr algn="just">
              <a:lnSpc>
                <a:spcPts val="2559"/>
              </a:lnSpc>
            </a:pPr>
            <a:r>
              <a:rPr lang="en-US" sz="2133" b="1" spc="-9" dirty="0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C109 	                    C082	                C116                       C108</a:t>
            </a:r>
          </a:p>
          <a:p>
            <a:pPr algn="just">
              <a:lnSpc>
                <a:spcPts val="2559"/>
              </a:lnSpc>
            </a:pPr>
            <a:endParaRPr lang="en-US" sz="2133" b="1" spc="-9" dirty="0">
              <a:solidFill>
                <a:srgbClr val="888888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2559"/>
              </a:lnSpc>
            </a:pPr>
            <a:r>
              <a:rPr lang="en-US" sz="2133" b="1" spc="-9" dirty="0">
                <a:solidFill>
                  <a:srgbClr val="88888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guidance of : Prof. Sofia Francis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781424" y="6789020"/>
            <a:ext cx="4190743" cy="389468"/>
            <a:chOff x="0" y="0"/>
            <a:chExt cx="5587657" cy="5192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87662" cy="519289"/>
            </a:xfrm>
            <a:custGeom>
              <a:avLst/>
              <a:gdLst/>
              <a:ahLst/>
              <a:cxnLst/>
              <a:rect l="l" t="t" r="r" b="b"/>
              <a:pathLst>
                <a:path w="5587662" h="519289">
                  <a:moveTo>
                    <a:pt x="0" y="0"/>
                  </a:moveTo>
                  <a:lnTo>
                    <a:pt x="5587662" y="0"/>
                  </a:lnTo>
                  <a:lnTo>
                    <a:pt x="5587662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9662" b="-15966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587657" cy="519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43"/>
                </a:lnSpc>
              </a:pPr>
              <a:r>
                <a:rPr lang="en-US" sz="1119">
                  <a:solidFill>
                    <a:srgbClr val="888888"/>
                  </a:solidFill>
                  <a:latin typeface="Aptos"/>
                  <a:ea typeface="Aptos"/>
                  <a:cs typeface="Aptos"/>
                  <a:sym typeface="Aptos"/>
                </a:rPr>
                <a:t>Computer Engineering Department, MPSTME, Mumbai Campus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90083" y="6798450"/>
            <a:ext cx="2275837" cy="389467"/>
            <a:chOff x="0" y="0"/>
            <a:chExt cx="3034449" cy="5192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34453" cy="519287"/>
            </a:xfrm>
            <a:custGeom>
              <a:avLst/>
              <a:gdLst/>
              <a:ahLst/>
              <a:cxnLst/>
              <a:rect l="l" t="t" r="r" b="b"/>
              <a:pathLst>
                <a:path w="3034453" h="519287">
                  <a:moveTo>
                    <a:pt x="0" y="0"/>
                  </a:moveTo>
                  <a:lnTo>
                    <a:pt x="3034453" y="0"/>
                  </a:lnTo>
                  <a:lnTo>
                    <a:pt x="3034453" y="519287"/>
                  </a:lnTo>
                  <a:lnTo>
                    <a:pt x="0" y="5192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860" b="-6386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3034449" cy="538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343"/>
                </a:lnSpc>
              </a:pPr>
              <a:r>
                <a:rPr lang="en-US" sz="1119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46619" y="1644177"/>
            <a:ext cx="345459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619" y="2422098"/>
            <a:ext cx="9269887" cy="357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vulnerabilities can introduce significant security risks to modern applications.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vulnerabilities in source code requires effective automated code analysis.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and Large Language Models (LLMs) provide new opportunities for understanding and analyzing source code.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 , vulnerability detection alone does not address the complete remediation process.</a:t>
            </a:r>
          </a:p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Aim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intelligent vulnerability detection and remediation system using Large Language Models that improves software security and developer productivity.</a:t>
            </a:r>
          </a:p>
          <a:p>
            <a:pPr algn="l">
              <a:lnSpc>
                <a:spcPts val="280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800"/>
              </a:lnSpc>
            </a:pPr>
            <a:endParaRPr lang="en-US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1644177"/>
            <a:ext cx="5511572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619" y="2422098"/>
            <a:ext cx="9269887" cy="423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Problems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vulnerability analysis is time-consuming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mainly focus on detection only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models cannot explain vulnerabilities clearly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systems validate generated patches before deployment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integration of cybersecurity knowledge (CWE, OWASP, CVE)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 AI-powered framework that combines static analysis, retrieval-augmented generation (RAG), and Large Language Models to automatically detect, explain, repair, and validate software vulnerabilities.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01420" y="967561"/>
            <a:ext cx="5546907" cy="641548"/>
            <a:chOff x="0" y="0"/>
            <a:chExt cx="7395877" cy="855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95876" cy="855398"/>
            </a:xfrm>
            <a:custGeom>
              <a:avLst/>
              <a:gdLst/>
              <a:ahLst/>
              <a:cxnLst/>
              <a:rect l="l" t="t" r="r" b="b"/>
              <a:pathLst>
                <a:path w="7395876" h="855398">
                  <a:moveTo>
                    <a:pt x="0" y="0"/>
                  </a:moveTo>
                  <a:lnTo>
                    <a:pt x="7395876" y="0"/>
                  </a:lnTo>
                  <a:lnTo>
                    <a:pt x="7395876" y="855398"/>
                  </a:lnTo>
                  <a:lnTo>
                    <a:pt x="0" y="8553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481" r="-58254" b="-213741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395877" cy="883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6334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3878" y="1914585"/>
            <a:ext cx="1427817" cy="4568476"/>
            <a:chOff x="0" y="0"/>
            <a:chExt cx="1903755" cy="60913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3730" cy="6091301"/>
            </a:xfrm>
            <a:custGeom>
              <a:avLst/>
              <a:gdLst/>
              <a:ahLst/>
              <a:cxnLst/>
              <a:rect l="l" t="t" r="r" b="b"/>
              <a:pathLst>
                <a:path w="1903730" h="6091301">
                  <a:moveTo>
                    <a:pt x="0" y="105029"/>
                  </a:moveTo>
                  <a:cubicBezTo>
                    <a:pt x="0" y="46990"/>
                    <a:pt x="46990" y="0"/>
                    <a:pt x="105029" y="0"/>
                  </a:cubicBezTo>
                  <a:lnTo>
                    <a:pt x="1798701" y="0"/>
                  </a:lnTo>
                  <a:cubicBezTo>
                    <a:pt x="1856740" y="0"/>
                    <a:pt x="1903730" y="46990"/>
                    <a:pt x="1903730" y="105029"/>
                  </a:cubicBezTo>
                  <a:lnTo>
                    <a:pt x="1903730" y="5986272"/>
                  </a:lnTo>
                  <a:cubicBezTo>
                    <a:pt x="1903730" y="6044311"/>
                    <a:pt x="1856740" y="6091301"/>
                    <a:pt x="1798701" y="6091301"/>
                  </a:cubicBezTo>
                  <a:lnTo>
                    <a:pt x="105029" y="6091301"/>
                  </a:lnTo>
                  <a:cubicBezTo>
                    <a:pt x="46990" y="6091301"/>
                    <a:pt x="0" y="6044311"/>
                    <a:pt x="0" y="5986272"/>
                  </a:cubicBezTo>
                  <a:close/>
                </a:path>
              </a:pathLst>
            </a:custGeom>
            <a:solidFill>
              <a:srgbClr val="FAFBFC"/>
            </a:solidFill>
            <a:ln w="13547" cap="sq">
              <a:solidFill>
                <a:srgbClr val="9AA7B8"/>
              </a:solidFill>
              <a:prstDash val="dash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812546" y="1913909"/>
            <a:ext cx="7476401" cy="4569828"/>
            <a:chOff x="0" y="0"/>
            <a:chExt cx="9968535" cy="60931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68611" cy="6093079"/>
            </a:xfrm>
            <a:custGeom>
              <a:avLst/>
              <a:gdLst/>
              <a:ahLst/>
              <a:cxnLst/>
              <a:rect l="l" t="t" r="r" b="b"/>
              <a:pathLst>
                <a:path w="9968611" h="6093079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9864217" y="0"/>
                  </a:lnTo>
                  <a:cubicBezTo>
                    <a:pt x="9921875" y="0"/>
                    <a:pt x="9968611" y="46736"/>
                    <a:pt x="9968611" y="104394"/>
                  </a:cubicBezTo>
                  <a:lnTo>
                    <a:pt x="9968611" y="5988685"/>
                  </a:lnTo>
                  <a:cubicBezTo>
                    <a:pt x="9968611" y="6046343"/>
                    <a:pt x="9921875" y="6093079"/>
                    <a:pt x="9864217" y="6093079"/>
                  </a:cubicBezTo>
                  <a:lnTo>
                    <a:pt x="104394" y="6093079"/>
                  </a:lnTo>
                  <a:cubicBezTo>
                    <a:pt x="46736" y="6093079"/>
                    <a:pt x="0" y="6046343"/>
                    <a:pt x="0" y="5988685"/>
                  </a:cubicBezTo>
                  <a:close/>
                </a:path>
              </a:pathLst>
            </a:custGeom>
            <a:solidFill>
              <a:srgbClr val="FAFBFC"/>
            </a:solidFill>
            <a:ln w="14901" cap="sq">
              <a:solidFill>
                <a:srgbClr val="1F497D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56954" y="2038401"/>
            <a:ext cx="195072" cy="195072"/>
            <a:chOff x="0" y="0"/>
            <a:chExt cx="260096" cy="260096"/>
          </a:xfrm>
        </p:grpSpPr>
        <p:sp>
          <p:nvSpPr>
            <p:cNvPr id="11" name="Freeform 11" descr="icons2/userzone.png"/>
            <p:cNvSpPr/>
            <p:nvPr/>
          </p:nvSpPr>
          <p:spPr>
            <a:xfrm>
              <a:off x="0" y="0"/>
              <a:ext cx="260096" cy="260096"/>
            </a:xfrm>
            <a:custGeom>
              <a:avLst/>
              <a:gdLst/>
              <a:ahLst/>
              <a:cxnLst/>
              <a:rect l="l" t="t" r="r" b="b"/>
              <a:pathLst>
                <a:path w="260096" h="260096">
                  <a:moveTo>
                    <a:pt x="0" y="0"/>
                  </a:moveTo>
                  <a:lnTo>
                    <a:pt x="260096" y="0"/>
                  </a:lnTo>
                  <a:lnTo>
                    <a:pt x="260096" y="260096"/>
                  </a:lnTo>
                  <a:lnTo>
                    <a:pt x="0" y="26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00794" y="1979879"/>
            <a:ext cx="975360" cy="312115"/>
            <a:chOff x="0" y="0"/>
            <a:chExt cx="1300480" cy="4161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00480" cy="416154"/>
            </a:xfrm>
            <a:custGeom>
              <a:avLst/>
              <a:gdLst/>
              <a:ahLst/>
              <a:cxnLst/>
              <a:rect l="l" t="t" r="r" b="b"/>
              <a:pathLst>
                <a:path w="1300480" h="416154">
                  <a:moveTo>
                    <a:pt x="0" y="0"/>
                  </a:moveTo>
                  <a:lnTo>
                    <a:pt x="1300480" y="0"/>
                  </a:lnTo>
                  <a:lnTo>
                    <a:pt x="13004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300480" cy="435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46"/>
                </a:lnSpc>
              </a:pPr>
              <a:r>
                <a:rPr lang="en-US" sz="672" b="1" spc="31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DEVELOPER</a:t>
              </a:r>
            </a:p>
            <a:p>
              <a:pPr algn="l">
                <a:lnSpc>
                  <a:spcPts val="846"/>
                </a:lnSpc>
              </a:pPr>
              <a:r>
                <a:rPr lang="en-US" sz="672" b="1" spc="31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66298" y="2038401"/>
            <a:ext cx="195072" cy="195072"/>
            <a:chOff x="0" y="0"/>
            <a:chExt cx="260096" cy="260096"/>
          </a:xfrm>
        </p:grpSpPr>
        <p:sp>
          <p:nvSpPr>
            <p:cNvPr id="16" name="Freeform 16" descr="icons2/serverzone.png"/>
            <p:cNvSpPr/>
            <p:nvPr/>
          </p:nvSpPr>
          <p:spPr>
            <a:xfrm>
              <a:off x="0" y="0"/>
              <a:ext cx="260096" cy="260096"/>
            </a:xfrm>
            <a:custGeom>
              <a:avLst/>
              <a:gdLst/>
              <a:ahLst/>
              <a:cxnLst/>
              <a:rect l="l" t="t" r="r" b="b"/>
              <a:pathLst>
                <a:path w="260096" h="260096">
                  <a:moveTo>
                    <a:pt x="0" y="0"/>
                  </a:moveTo>
                  <a:lnTo>
                    <a:pt x="260096" y="0"/>
                  </a:lnTo>
                  <a:lnTo>
                    <a:pt x="260096" y="260096"/>
                  </a:lnTo>
                  <a:lnTo>
                    <a:pt x="0" y="26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229645" y="1999386"/>
            <a:ext cx="5071872" cy="273101"/>
            <a:chOff x="0" y="0"/>
            <a:chExt cx="6762496" cy="3641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62496" cy="364134"/>
            </a:xfrm>
            <a:custGeom>
              <a:avLst/>
              <a:gdLst/>
              <a:ahLst/>
              <a:cxnLst/>
              <a:rect l="l" t="t" r="r" b="b"/>
              <a:pathLst>
                <a:path w="6762496" h="364134">
                  <a:moveTo>
                    <a:pt x="0" y="0"/>
                  </a:moveTo>
                  <a:lnTo>
                    <a:pt x="6762496" y="0"/>
                  </a:lnTo>
                  <a:lnTo>
                    <a:pt x="6762496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64" b="-31186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6762496" cy="383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52"/>
                </a:lnSpc>
              </a:pPr>
              <a:r>
                <a:rPr lang="en-US" sz="960" b="1" spc="53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SECURITY COPILOT BACKEND PIPELINE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1041" y="3433166"/>
            <a:ext cx="604723" cy="604723"/>
            <a:chOff x="0" y="0"/>
            <a:chExt cx="806298" cy="8062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06323" cy="806323"/>
            </a:xfrm>
            <a:custGeom>
              <a:avLst/>
              <a:gdLst/>
              <a:ahLst/>
              <a:cxnLst/>
              <a:rect l="l" t="t" r="r" b="b"/>
              <a:pathLst>
                <a:path w="806323" h="806323">
                  <a:moveTo>
                    <a:pt x="0" y="130048"/>
                  </a:moveTo>
                  <a:cubicBezTo>
                    <a:pt x="0" y="58166"/>
                    <a:pt x="58166" y="0"/>
                    <a:pt x="130048" y="0"/>
                  </a:cubicBezTo>
                  <a:lnTo>
                    <a:pt x="676275" y="0"/>
                  </a:lnTo>
                  <a:cubicBezTo>
                    <a:pt x="748030" y="0"/>
                    <a:pt x="806323" y="58166"/>
                    <a:pt x="806323" y="130048"/>
                  </a:cubicBezTo>
                  <a:lnTo>
                    <a:pt x="806323" y="676275"/>
                  </a:lnTo>
                  <a:cubicBezTo>
                    <a:pt x="806323" y="748157"/>
                    <a:pt x="748157" y="806323"/>
                    <a:pt x="676275" y="806323"/>
                  </a:cubicBezTo>
                  <a:lnTo>
                    <a:pt x="130048" y="806323"/>
                  </a:lnTo>
                  <a:cubicBezTo>
                    <a:pt x="58166" y="806323"/>
                    <a:pt x="0" y="748030"/>
                    <a:pt x="0" y="676275"/>
                  </a:cubicBezTo>
                  <a:close/>
                </a:path>
              </a:pathLst>
            </a:custGeom>
            <a:solidFill>
              <a:srgbClr val="44546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17837" y="3559962"/>
            <a:ext cx="351130" cy="351130"/>
            <a:chOff x="0" y="0"/>
            <a:chExt cx="468173" cy="468173"/>
          </a:xfrm>
        </p:grpSpPr>
        <p:sp>
          <p:nvSpPr>
            <p:cNvPr id="23" name="Freeform 23" descr="icons2/dev.png"/>
            <p:cNvSpPr/>
            <p:nvPr/>
          </p:nvSpPr>
          <p:spPr>
            <a:xfrm>
              <a:off x="0" y="0"/>
              <a:ext cx="468122" cy="468122"/>
            </a:xfrm>
            <a:custGeom>
              <a:avLst/>
              <a:gdLst/>
              <a:ahLst/>
              <a:cxnLst/>
              <a:rect l="l" t="t" r="r" b="b"/>
              <a:pathLst>
                <a:path w="468122" h="468122">
                  <a:moveTo>
                    <a:pt x="0" y="0"/>
                  </a:moveTo>
                  <a:lnTo>
                    <a:pt x="468122" y="0"/>
                  </a:lnTo>
                  <a:lnTo>
                    <a:pt x="468122" y="468122"/>
                  </a:lnTo>
                  <a:lnTo>
                    <a:pt x="0" y="468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" b="-10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030067" y="3328334"/>
            <a:ext cx="270529" cy="270529"/>
            <a:chOff x="0" y="0"/>
            <a:chExt cx="360705" cy="3607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80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cubicBezTo>
                    <a:pt x="279908" y="0"/>
                    <a:pt x="360680" y="80772"/>
                    <a:pt x="360680" y="180340"/>
                  </a:cubicBezTo>
                  <a:cubicBezTo>
                    <a:pt x="360680" y="279908"/>
                    <a:pt x="279908" y="360680"/>
                    <a:pt x="180340" y="360680"/>
                  </a:cubicBezTo>
                  <a:cubicBezTo>
                    <a:pt x="80772" y="360680"/>
                    <a:pt x="0" y="279908"/>
                    <a:pt x="0" y="180340"/>
                  </a:cubicBezTo>
                  <a:close/>
                </a:path>
              </a:pathLst>
            </a:custGeom>
            <a:solidFill>
              <a:srgbClr val="16334F"/>
            </a:solidFill>
            <a:ln w="1693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38535" y="3336801"/>
            <a:ext cx="253594" cy="253594"/>
            <a:chOff x="0" y="0"/>
            <a:chExt cx="338125" cy="3381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38125" cy="338125"/>
            </a:xfrm>
            <a:custGeom>
              <a:avLst/>
              <a:gdLst/>
              <a:ahLst/>
              <a:cxnLst/>
              <a:rect l="l" t="t" r="r" b="b"/>
              <a:pathLst>
                <a:path w="338125" h="338125">
                  <a:moveTo>
                    <a:pt x="0" y="0"/>
                  </a:moveTo>
                  <a:lnTo>
                    <a:pt x="338125" y="0"/>
                  </a:lnTo>
                  <a:lnTo>
                    <a:pt x="338125" y="338125"/>
                  </a:lnTo>
                  <a:lnTo>
                    <a:pt x="0" y="338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338125" cy="366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15"/>
                </a:lnSpc>
              </a:pPr>
              <a:r>
                <a:rPr lang="en-US" sz="101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59418" y="4154932"/>
            <a:ext cx="1267968" cy="292608"/>
            <a:chOff x="0" y="0"/>
            <a:chExt cx="1690624" cy="3901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90624" cy="390144"/>
            </a:xfrm>
            <a:custGeom>
              <a:avLst/>
              <a:gdLst/>
              <a:ahLst/>
              <a:cxnLst/>
              <a:rect l="l" t="t" r="r" b="b"/>
              <a:pathLst>
                <a:path w="1690624" h="390144">
                  <a:moveTo>
                    <a:pt x="0" y="0"/>
                  </a:moveTo>
                  <a:lnTo>
                    <a:pt x="1690624" y="0"/>
                  </a:lnTo>
                  <a:lnTo>
                    <a:pt x="1690624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690624" cy="41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43"/>
                </a:lnSpc>
              </a:pPr>
              <a:r>
                <a:rPr lang="en-US" sz="1119" b="1">
                  <a:solidFill>
                    <a:srgbClr val="1633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Developer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50858" y="4444949"/>
            <a:ext cx="1085088" cy="134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5"/>
              </a:lnSpc>
            </a:pPr>
            <a:r>
              <a:rPr lang="en-US" sz="853" dirty="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Paste Code on UI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834369" y="2526081"/>
            <a:ext cx="604723" cy="604723"/>
            <a:chOff x="0" y="0"/>
            <a:chExt cx="806298" cy="80629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06323" cy="806323"/>
            </a:xfrm>
            <a:custGeom>
              <a:avLst/>
              <a:gdLst/>
              <a:ahLst/>
              <a:cxnLst/>
              <a:rect l="l" t="t" r="r" b="b"/>
              <a:pathLst>
                <a:path w="806323" h="806323">
                  <a:moveTo>
                    <a:pt x="0" y="130048"/>
                  </a:moveTo>
                  <a:cubicBezTo>
                    <a:pt x="0" y="58166"/>
                    <a:pt x="58166" y="0"/>
                    <a:pt x="130048" y="0"/>
                  </a:cubicBezTo>
                  <a:lnTo>
                    <a:pt x="676275" y="0"/>
                  </a:lnTo>
                  <a:cubicBezTo>
                    <a:pt x="748030" y="0"/>
                    <a:pt x="806323" y="58166"/>
                    <a:pt x="806323" y="130048"/>
                  </a:cubicBezTo>
                  <a:lnTo>
                    <a:pt x="806323" y="676275"/>
                  </a:lnTo>
                  <a:cubicBezTo>
                    <a:pt x="806323" y="748157"/>
                    <a:pt x="748157" y="806323"/>
                    <a:pt x="676275" y="806323"/>
                  </a:cubicBezTo>
                  <a:lnTo>
                    <a:pt x="130048" y="806323"/>
                  </a:lnTo>
                  <a:cubicBezTo>
                    <a:pt x="58166" y="806323"/>
                    <a:pt x="0" y="748030"/>
                    <a:pt x="0" y="676275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2961165" y="2652878"/>
            <a:ext cx="351130" cy="351130"/>
            <a:chOff x="0" y="0"/>
            <a:chExt cx="468173" cy="468173"/>
          </a:xfrm>
        </p:grpSpPr>
        <p:sp>
          <p:nvSpPr>
            <p:cNvPr id="36" name="Freeform 36" descr="icons2/sast.png"/>
            <p:cNvSpPr/>
            <p:nvPr/>
          </p:nvSpPr>
          <p:spPr>
            <a:xfrm>
              <a:off x="0" y="0"/>
              <a:ext cx="468122" cy="468122"/>
            </a:xfrm>
            <a:custGeom>
              <a:avLst/>
              <a:gdLst/>
              <a:ahLst/>
              <a:cxnLst/>
              <a:rect l="l" t="t" r="r" b="b"/>
              <a:pathLst>
                <a:path w="468122" h="468122">
                  <a:moveTo>
                    <a:pt x="0" y="0"/>
                  </a:moveTo>
                  <a:lnTo>
                    <a:pt x="468122" y="0"/>
                  </a:lnTo>
                  <a:lnTo>
                    <a:pt x="468122" y="468122"/>
                  </a:lnTo>
                  <a:lnTo>
                    <a:pt x="0" y="468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0" b="-10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3273395" y="2421249"/>
            <a:ext cx="270529" cy="270529"/>
            <a:chOff x="0" y="0"/>
            <a:chExt cx="360705" cy="36070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80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cubicBezTo>
                    <a:pt x="279908" y="0"/>
                    <a:pt x="360680" y="80772"/>
                    <a:pt x="360680" y="180340"/>
                  </a:cubicBezTo>
                  <a:cubicBezTo>
                    <a:pt x="360680" y="279908"/>
                    <a:pt x="279908" y="360680"/>
                    <a:pt x="180340" y="360680"/>
                  </a:cubicBezTo>
                  <a:cubicBezTo>
                    <a:pt x="80772" y="360680"/>
                    <a:pt x="0" y="279908"/>
                    <a:pt x="0" y="180340"/>
                  </a:cubicBezTo>
                  <a:close/>
                </a:path>
              </a:pathLst>
            </a:custGeom>
            <a:solidFill>
              <a:srgbClr val="16334F"/>
            </a:solidFill>
            <a:ln w="1693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3281863" y="2429716"/>
            <a:ext cx="253594" cy="253594"/>
            <a:chOff x="0" y="0"/>
            <a:chExt cx="338125" cy="33812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38125" cy="338125"/>
            </a:xfrm>
            <a:custGeom>
              <a:avLst/>
              <a:gdLst/>
              <a:ahLst/>
              <a:cxnLst/>
              <a:rect l="l" t="t" r="r" b="b"/>
              <a:pathLst>
                <a:path w="338125" h="338125">
                  <a:moveTo>
                    <a:pt x="0" y="0"/>
                  </a:moveTo>
                  <a:lnTo>
                    <a:pt x="338125" y="0"/>
                  </a:lnTo>
                  <a:lnTo>
                    <a:pt x="338125" y="338125"/>
                  </a:lnTo>
                  <a:lnTo>
                    <a:pt x="0" y="338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338125" cy="366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15"/>
                </a:lnSpc>
              </a:pPr>
              <a:r>
                <a:rPr lang="en-US" sz="101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380826" y="3118307"/>
            <a:ext cx="1511808" cy="292608"/>
            <a:chOff x="0" y="0"/>
            <a:chExt cx="2015744" cy="39014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15744" cy="390144"/>
            </a:xfrm>
            <a:custGeom>
              <a:avLst/>
              <a:gdLst/>
              <a:ahLst/>
              <a:cxnLst/>
              <a:rect l="l" t="t" r="r" b="b"/>
              <a:pathLst>
                <a:path w="2015744" h="390144">
                  <a:moveTo>
                    <a:pt x="0" y="0"/>
                  </a:moveTo>
                  <a:lnTo>
                    <a:pt x="2015744" y="0"/>
                  </a:lnTo>
                  <a:lnTo>
                    <a:pt x="2015744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2015744" cy="41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43"/>
                </a:lnSpc>
              </a:pPr>
              <a:r>
                <a:rPr lang="en-US" sz="1119" b="1">
                  <a:solidFill>
                    <a:srgbClr val="1633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SAST Scan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2472266" y="3332023"/>
            <a:ext cx="1328928" cy="17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1"/>
              </a:lnSpc>
            </a:pPr>
            <a:r>
              <a:rPr lang="en-US" sz="953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Semgrep + Bandit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2834369" y="4330497"/>
            <a:ext cx="604723" cy="604723"/>
            <a:chOff x="0" y="0"/>
            <a:chExt cx="806298" cy="80629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06323" cy="806323"/>
            </a:xfrm>
            <a:custGeom>
              <a:avLst/>
              <a:gdLst/>
              <a:ahLst/>
              <a:cxnLst/>
              <a:rect l="l" t="t" r="r" b="b"/>
              <a:pathLst>
                <a:path w="806323" h="806323">
                  <a:moveTo>
                    <a:pt x="0" y="130048"/>
                  </a:moveTo>
                  <a:cubicBezTo>
                    <a:pt x="0" y="58166"/>
                    <a:pt x="58166" y="0"/>
                    <a:pt x="130048" y="0"/>
                  </a:cubicBezTo>
                  <a:lnTo>
                    <a:pt x="676275" y="0"/>
                  </a:lnTo>
                  <a:cubicBezTo>
                    <a:pt x="748030" y="0"/>
                    <a:pt x="806323" y="58166"/>
                    <a:pt x="806323" y="130048"/>
                  </a:cubicBezTo>
                  <a:lnTo>
                    <a:pt x="806323" y="676275"/>
                  </a:lnTo>
                  <a:cubicBezTo>
                    <a:pt x="806323" y="748157"/>
                    <a:pt x="748157" y="806323"/>
                    <a:pt x="676275" y="806323"/>
                  </a:cubicBezTo>
                  <a:lnTo>
                    <a:pt x="130048" y="806323"/>
                  </a:lnTo>
                  <a:cubicBezTo>
                    <a:pt x="58166" y="806323"/>
                    <a:pt x="0" y="748030"/>
                    <a:pt x="0" y="676275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2961165" y="4457294"/>
            <a:ext cx="351130" cy="351130"/>
            <a:chOff x="0" y="0"/>
            <a:chExt cx="468173" cy="468173"/>
          </a:xfrm>
        </p:grpSpPr>
        <p:sp>
          <p:nvSpPr>
            <p:cNvPr id="49" name="Freeform 49" descr="icons2/classifier.png"/>
            <p:cNvSpPr/>
            <p:nvPr/>
          </p:nvSpPr>
          <p:spPr>
            <a:xfrm>
              <a:off x="0" y="0"/>
              <a:ext cx="468122" cy="468122"/>
            </a:xfrm>
            <a:custGeom>
              <a:avLst/>
              <a:gdLst/>
              <a:ahLst/>
              <a:cxnLst/>
              <a:rect l="l" t="t" r="r" b="b"/>
              <a:pathLst>
                <a:path w="468122" h="468122">
                  <a:moveTo>
                    <a:pt x="0" y="0"/>
                  </a:moveTo>
                  <a:lnTo>
                    <a:pt x="468122" y="0"/>
                  </a:lnTo>
                  <a:lnTo>
                    <a:pt x="468122" y="468122"/>
                  </a:lnTo>
                  <a:lnTo>
                    <a:pt x="0" y="468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0" b="-10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3273395" y="4225665"/>
            <a:ext cx="270529" cy="270529"/>
            <a:chOff x="0" y="0"/>
            <a:chExt cx="360705" cy="36070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80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cubicBezTo>
                    <a:pt x="279908" y="0"/>
                    <a:pt x="360680" y="80772"/>
                    <a:pt x="360680" y="180340"/>
                  </a:cubicBezTo>
                  <a:cubicBezTo>
                    <a:pt x="360680" y="279908"/>
                    <a:pt x="279908" y="360680"/>
                    <a:pt x="180340" y="360680"/>
                  </a:cubicBezTo>
                  <a:cubicBezTo>
                    <a:pt x="80772" y="360680"/>
                    <a:pt x="0" y="279908"/>
                    <a:pt x="0" y="180340"/>
                  </a:cubicBezTo>
                  <a:close/>
                </a:path>
              </a:pathLst>
            </a:custGeom>
            <a:solidFill>
              <a:srgbClr val="16334F"/>
            </a:solidFill>
            <a:ln w="1693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3281863" y="4234132"/>
            <a:ext cx="253594" cy="253594"/>
            <a:chOff x="0" y="0"/>
            <a:chExt cx="338125" cy="33812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38125" cy="338125"/>
            </a:xfrm>
            <a:custGeom>
              <a:avLst/>
              <a:gdLst/>
              <a:ahLst/>
              <a:cxnLst/>
              <a:rect l="l" t="t" r="r" b="b"/>
              <a:pathLst>
                <a:path w="338125" h="338125">
                  <a:moveTo>
                    <a:pt x="0" y="0"/>
                  </a:moveTo>
                  <a:lnTo>
                    <a:pt x="338125" y="0"/>
                  </a:lnTo>
                  <a:lnTo>
                    <a:pt x="338125" y="338125"/>
                  </a:lnTo>
                  <a:lnTo>
                    <a:pt x="0" y="338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338125" cy="366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15"/>
                </a:lnSpc>
              </a:pPr>
              <a:r>
                <a:rPr lang="en-US" sz="101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210138" y="5001971"/>
            <a:ext cx="1853184" cy="292608"/>
            <a:chOff x="0" y="0"/>
            <a:chExt cx="2470912" cy="39014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470912" cy="390144"/>
            </a:xfrm>
            <a:custGeom>
              <a:avLst/>
              <a:gdLst/>
              <a:ahLst/>
              <a:cxnLst/>
              <a:rect l="l" t="t" r="r" b="b"/>
              <a:pathLst>
                <a:path w="2470912" h="390144">
                  <a:moveTo>
                    <a:pt x="0" y="0"/>
                  </a:moveTo>
                  <a:lnTo>
                    <a:pt x="2470912" y="0"/>
                  </a:lnTo>
                  <a:lnTo>
                    <a:pt x="247091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405" b="-73405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2470912" cy="41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43"/>
                </a:lnSpc>
              </a:pPr>
              <a:r>
                <a:rPr lang="en-US" sz="1119" b="1">
                  <a:solidFill>
                    <a:srgbClr val="1633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Vulnerability Classifier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2301578" y="5193436"/>
            <a:ext cx="1670304" cy="17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1"/>
              </a:lnSpc>
            </a:pPr>
            <a:r>
              <a:rPr lang="en-US" sz="953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CodeBERT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5077697" y="3433166"/>
            <a:ext cx="604723" cy="604723"/>
            <a:chOff x="0" y="0"/>
            <a:chExt cx="806298" cy="80629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06323" cy="806323"/>
            </a:xfrm>
            <a:custGeom>
              <a:avLst/>
              <a:gdLst/>
              <a:ahLst/>
              <a:cxnLst/>
              <a:rect l="l" t="t" r="r" b="b"/>
              <a:pathLst>
                <a:path w="806323" h="806323">
                  <a:moveTo>
                    <a:pt x="0" y="130048"/>
                  </a:moveTo>
                  <a:cubicBezTo>
                    <a:pt x="0" y="58166"/>
                    <a:pt x="58166" y="0"/>
                    <a:pt x="130048" y="0"/>
                  </a:cubicBezTo>
                  <a:lnTo>
                    <a:pt x="676275" y="0"/>
                  </a:lnTo>
                  <a:cubicBezTo>
                    <a:pt x="748030" y="0"/>
                    <a:pt x="806323" y="58166"/>
                    <a:pt x="806323" y="130048"/>
                  </a:cubicBezTo>
                  <a:lnTo>
                    <a:pt x="806323" y="676275"/>
                  </a:lnTo>
                  <a:cubicBezTo>
                    <a:pt x="806323" y="748157"/>
                    <a:pt x="748157" y="806323"/>
                    <a:pt x="676275" y="806323"/>
                  </a:cubicBezTo>
                  <a:lnTo>
                    <a:pt x="130048" y="806323"/>
                  </a:lnTo>
                  <a:cubicBezTo>
                    <a:pt x="58166" y="806323"/>
                    <a:pt x="0" y="748030"/>
                    <a:pt x="0" y="676275"/>
                  </a:cubicBezTo>
                  <a:close/>
                </a:path>
              </a:pathLst>
            </a:custGeom>
            <a:solidFill>
              <a:srgbClr val="1B7F79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5204493" y="3559962"/>
            <a:ext cx="351130" cy="351130"/>
            <a:chOff x="0" y="0"/>
            <a:chExt cx="468173" cy="468173"/>
          </a:xfrm>
        </p:grpSpPr>
        <p:sp>
          <p:nvSpPr>
            <p:cNvPr id="62" name="Freeform 62" descr="icons2/rag.png"/>
            <p:cNvSpPr/>
            <p:nvPr/>
          </p:nvSpPr>
          <p:spPr>
            <a:xfrm>
              <a:off x="0" y="0"/>
              <a:ext cx="468122" cy="468122"/>
            </a:xfrm>
            <a:custGeom>
              <a:avLst/>
              <a:gdLst/>
              <a:ahLst/>
              <a:cxnLst/>
              <a:rect l="l" t="t" r="r" b="b"/>
              <a:pathLst>
                <a:path w="468122" h="468122">
                  <a:moveTo>
                    <a:pt x="0" y="0"/>
                  </a:moveTo>
                  <a:lnTo>
                    <a:pt x="468122" y="0"/>
                  </a:lnTo>
                  <a:lnTo>
                    <a:pt x="468122" y="468122"/>
                  </a:lnTo>
                  <a:lnTo>
                    <a:pt x="0" y="468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0" b="-10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5516723" y="3328334"/>
            <a:ext cx="270529" cy="270529"/>
            <a:chOff x="0" y="0"/>
            <a:chExt cx="360705" cy="36070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80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cubicBezTo>
                    <a:pt x="279908" y="0"/>
                    <a:pt x="360680" y="80772"/>
                    <a:pt x="360680" y="180340"/>
                  </a:cubicBezTo>
                  <a:cubicBezTo>
                    <a:pt x="360680" y="279908"/>
                    <a:pt x="279908" y="360680"/>
                    <a:pt x="180340" y="360680"/>
                  </a:cubicBezTo>
                  <a:cubicBezTo>
                    <a:pt x="80772" y="360680"/>
                    <a:pt x="0" y="279908"/>
                    <a:pt x="0" y="180340"/>
                  </a:cubicBezTo>
                  <a:close/>
                </a:path>
              </a:pathLst>
            </a:custGeom>
            <a:solidFill>
              <a:srgbClr val="16334F"/>
            </a:solidFill>
            <a:ln w="1693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5525191" y="3336801"/>
            <a:ext cx="253594" cy="253594"/>
            <a:chOff x="0" y="0"/>
            <a:chExt cx="338125" cy="33812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38125" cy="338125"/>
            </a:xfrm>
            <a:custGeom>
              <a:avLst/>
              <a:gdLst/>
              <a:ahLst/>
              <a:cxnLst/>
              <a:rect l="l" t="t" r="r" b="b"/>
              <a:pathLst>
                <a:path w="338125" h="338125">
                  <a:moveTo>
                    <a:pt x="0" y="0"/>
                  </a:moveTo>
                  <a:lnTo>
                    <a:pt x="338125" y="0"/>
                  </a:lnTo>
                  <a:lnTo>
                    <a:pt x="338125" y="338125"/>
                  </a:lnTo>
                  <a:lnTo>
                    <a:pt x="0" y="338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338125" cy="366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15"/>
                </a:lnSpc>
              </a:pPr>
              <a:r>
                <a:rPr lang="en-US" sz="101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624154" y="4087828"/>
            <a:ext cx="1511808" cy="292608"/>
            <a:chOff x="0" y="0"/>
            <a:chExt cx="2015744" cy="39014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015744" cy="390144"/>
            </a:xfrm>
            <a:custGeom>
              <a:avLst/>
              <a:gdLst/>
              <a:ahLst/>
              <a:cxnLst/>
              <a:rect l="l" t="t" r="r" b="b"/>
              <a:pathLst>
                <a:path w="2015744" h="390144">
                  <a:moveTo>
                    <a:pt x="0" y="0"/>
                  </a:moveTo>
                  <a:lnTo>
                    <a:pt x="2015744" y="0"/>
                  </a:lnTo>
                  <a:lnTo>
                    <a:pt x="2015744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2015744" cy="41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43"/>
                </a:lnSpc>
              </a:pPr>
              <a:r>
                <a:rPr lang="en-US" sz="1119" b="1">
                  <a:solidFill>
                    <a:srgbClr val="1633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Explain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4715594" y="4346397"/>
            <a:ext cx="1328928" cy="17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1"/>
              </a:lnSpc>
            </a:pPr>
            <a:r>
              <a:rPr lang="en-US" sz="953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FAISS + BGE-small-en-v1.5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7028417" y="3433166"/>
            <a:ext cx="604723" cy="604723"/>
            <a:chOff x="0" y="0"/>
            <a:chExt cx="806298" cy="80629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06323" cy="806323"/>
            </a:xfrm>
            <a:custGeom>
              <a:avLst/>
              <a:gdLst/>
              <a:ahLst/>
              <a:cxnLst/>
              <a:rect l="l" t="t" r="r" b="b"/>
              <a:pathLst>
                <a:path w="806323" h="806323">
                  <a:moveTo>
                    <a:pt x="0" y="130048"/>
                  </a:moveTo>
                  <a:cubicBezTo>
                    <a:pt x="0" y="58166"/>
                    <a:pt x="58166" y="0"/>
                    <a:pt x="130048" y="0"/>
                  </a:cubicBezTo>
                  <a:lnTo>
                    <a:pt x="676275" y="0"/>
                  </a:lnTo>
                  <a:cubicBezTo>
                    <a:pt x="748030" y="0"/>
                    <a:pt x="806323" y="58166"/>
                    <a:pt x="806323" y="130048"/>
                  </a:cubicBezTo>
                  <a:lnTo>
                    <a:pt x="806323" y="676275"/>
                  </a:lnTo>
                  <a:cubicBezTo>
                    <a:pt x="806323" y="748157"/>
                    <a:pt x="748157" y="806323"/>
                    <a:pt x="676275" y="806323"/>
                  </a:cubicBezTo>
                  <a:lnTo>
                    <a:pt x="130048" y="806323"/>
                  </a:lnTo>
                  <a:cubicBezTo>
                    <a:pt x="58166" y="806323"/>
                    <a:pt x="0" y="748030"/>
                    <a:pt x="0" y="676275"/>
                  </a:cubicBezTo>
                  <a:close/>
                </a:path>
              </a:pathLst>
            </a:custGeom>
            <a:solidFill>
              <a:srgbClr val="C0662B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7155213" y="3559962"/>
            <a:ext cx="351130" cy="351130"/>
            <a:chOff x="0" y="0"/>
            <a:chExt cx="468173" cy="468173"/>
          </a:xfrm>
        </p:grpSpPr>
        <p:sp>
          <p:nvSpPr>
            <p:cNvPr id="75" name="Freeform 75" descr="icons2/patch.png"/>
            <p:cNvSpPr/>
            <p:nvPr/>
          </p:nvSpPr>
          <p:spPr>
            <a:xfrm>
              <a:off x="0" y="0"/>
              <a:ext cx="468122" cy="468122"/>
            </a:xfrm>
            <a:custGeom>
              <a:avLst/>
              <a:gdLst/>
              <a:ahLst/>
              <a:cxnLst/>
              <a:rect l="l" t="t" r="r" b="b"/>
              <a:pathLst>
                <a:path w="468122" h="468122">
                  <a:moveTo>
                    <a:pt x="0" y="0"/>
                  </a:moveTo>
                  <a:lnTo>
                    <a:pt x="468122" y="0"/>
                  </a:lnTo>
                  <a:lnTo>
                    <a:pt x="468122" y="468122"/>
                  </a:lnTo>
                  <a:lnTo>
                    <a:pt x="0" y="468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10" b="-10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7467443" y="3328334"/>
            <a:ext cx="270529" cy="270529"/>
            <a:chOff x="0" y="0"/>
            <a:chExt cx="360705" cy="36070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80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cubicBezTo>
                    <a:pt x="279908" y="0"/>
                    <a:pt x="360680" y="80772"/>
                    <a:pt x="360680" y="180340"/>
                  </a:cubicBezTo>
                  <a:cubicBezTo>
                    <a:pt x="360680" y="279908"/>
                    <a:pt x="279908" y="360680"/>
                    <a:pt x="180340" y="360680"/>
                  </a:cubicBezTo>
                  <a:cubicBezTo>
                    <a:pt x="80772" y="360680"/>
                    <a:pt x="0" y="279908"/>
                    <a:pt x="0" y="180340"/>
                  </a:cubicBezTo>
                  <a:close/>
                </a:path>
              </a:pathLst>
            </a:custGeom>
            <a:solidFill>
              <a:srgbClr val="16334F"/>
            </a:solidFill>
            <a:ln w="1693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7475911" y="3336801"/>
            <a:ext cx="253594" cy="253594"/>
            <a:chOff x="0" y="0"/>
            <a:chExt cx="338125" cy="338125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38125" cy="338125"/>
            </a:xfrm>
            <a:custGeom>
              <a:avLst/>
              <a:gdLst/>
              <a:ahLst/>
              <a:cxnLst/>
              <a:rect l="l" t="t" r="r" b="b"/>
              <a:pathLst>
                <a:path w="338125" h="338125">
                  <a:moveTo>
                    <a:pt x="0" y="0"/>
                  </a:moveTo>
                  <a:lnTo>
                    <a:pt x="338125" y="0"/>
                  </a:lnTo>
                  <a:lnTo>
                    <a:pt x="338125" y="338125"/>
                  </a:lnTo>
                  <a:lnTo>
                    <a:pt x="0" y="338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28575"/>
              <a:ext cx="338125" cy="366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15"/>
                </a:lnSpc>
              </a:pPr>
              <a:r>
                <a:rPr lang="en-US" sz="101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574874" y="4154932"/>
            <a:ext cx="1511808" cy="292608"/>
            <a:chOff x="0" y="0"/>
            <a:chExt cx="2015744" cy="39014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15744" cy="390144"/>
            </a:xfrm>
            <a:custGeom>
              <a:avLst/>
              <a:gdLst/>
              <a:ahLst/>
              <a:cxnLst/>
              <a:rect l="l" t="t" r="r" b="b"/>
              <a:pathLst>
                <a:path w="2015744" h="390144">
                  <a:moveTo>
                    <a:pt x="0" y="0"/>
                  </a:moveTo>
                  <a:lnTo>
                    <a:pt x="2015744" y="0"/>
                  </a:lnTo>
                  <a:lnTo>
                    <a:pt x="2015744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28575"/>
              <a:ext cx="2015744" cy="41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43"/>
                </a:lnSpc>
              </a:pPr>
              <a:r>
                <a:rPr lang="en-US" sz="1119" b="1">
                  <a:solidFill>
                    <a:srgbClr val="1633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Patch + Verify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6666314" y="4444949"/>
            <a:ext cx="132892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5"/>
              </a:lnSpc>
            </a:pPr>
            <a:r>
              <a:rPr lang="en-US" sz="853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Git apply →</a:t>
            </a:r>
          </a:p>
          <a:p>
            <a:pPr algn="ctr">
              <a:lnSpc>
                <a:spcPts val="1075"/>
              </a:lnSpc>
            </a:pPr>
            <a:r>
              <a:rPr lang="en-US" sz="853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re-scan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8491457" y="3433166"/>
            <a:ext cx="604723" cy="604723"/>
            <a:chOff x="0" y="0"/>
            <a:chExt cx="806298" cy="806298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06323" cy="806323"/>
            </a:xfrm>
            <a:custGeom>
              <a:avLst/>
              <a:gdLst/>
              <a:ahLst/>
              <a:cxnLst/>
              <a:rect l="l" t="t" r="r" b="b"/>
              <a:pathLst>
                <a:path w="806323" h="806323">
                  <a:moveTo>
                    <a:pt x="0" y="130048"/>
                  </a:moveTo>
                  <a:cubicBezTo>
                    <a:pt x="0" y="58166"/>
                    <a:pt x="58166" y="0"/>
                    <a:pt x="130048" y="0"/>
                  </a:cubicBezTo>
                  <a:lnTo>
                    <a:pt x="676275" y="0"/>
                  </a:lnTo>
                  <a:cubicBezTo>
                    <a:pt x="748030" y="0"/>
                    <a:pt x="806323" y="58166"/>
                    <a:pt x="806323" y="130048"/>
                  </a:cubicBezTo>
                  <a:lnTo>
                    <a:pt x="806323" y="676275"/>
                  </a:lnTo>
                  <a:cubicBezTo>
                    <a:pt x="806323" y="748157"/>
                    <a:pt x="748157" y="806323"/>
                    <a:pt x="676275" y="806323"/>
                  </a:cubicBezTo>
                  <a:lnTo>
                    <a:pt x="130048" y="806323"/>
                  </a:lnTo>
                  <a:cubicBezTo>
                    <a:pt x="58166" y="806323"/>
                    <a:pt x="0" y="748030"/>
                    <a:pt x="0" y="676275"/>
                  </a:cubicBezTo>
                  <a:close/>
                </a:path>
              </a:pathLst>
            </a:custGeom>
            <a:solidFill>
              <a:srgbClr val="44546A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8618253" y="3559962"/>
            <a:ext cx="351130" cy="351130"/>
            <a:chOff x="0" y="0"/>
            <a:chExt cx="468173" cy="468173"/>
          </a:xfrm>
        </p:grpSpPr>
        <p:sp>
          <p:nvSpPr>
            <p:cNvPr id="88" name="Freeform 88" descr="icons2/dashboard.png"/>
            <p:cNvSpPr/>
            <p:nvPr/>
          </p:nvSpPr>
          <p:spPr>
            <a:xfrm>
              <a:off x="0" y="0"/>
              <a:ext cx="468122" cy="468122"/>
            </a:xfrm>
            <a:custGeom>
              <a:avLst/>
              <a:gdLst/>
              <a:ahLst/>
              <a:cxnLst/>
              <a:rect l="l" t="t" r="r" b="b"/>
              <a:pathLst>
                <a:path w="468122" h="468122">
                  <a:moveTo>
                    <a:pt x="0" y="0"/>
                  </a:moveTo>
                  <a:lnTo>
                    <a:pt x="468122" y="0"/>
                  </a:lnTo>
                  <a:lnTo>
                    <a:pt x="468122" y="468122"/>
                  </a:lnTo>
                  <a:lnTo>
                    <a:pt x="0" y="468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10" b="-10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8930483" y="3328334"/>
            <a:ext cx="270529" cy="270529"/>
            <a:chOff x="0" y="0"/>
            <a:chExt cx="360705" cy="360705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80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cubicBezTo>
                    <a:pt x="279908" y="0"/>
                    <a:pt x="360680" y="80772"/>
                    <a:pt x="360680" y="180340"/>
                  </a:cubicBezTo>
                  <a:cubicBezTo>
                    <a:pt x="360680" y="279908"/>
                    <a:pt x="279908" y="360680"/>
                    <a:pt x="180340" y="360680"/>
                  </a:cubicBezTo>
                  <a:cubicBezTo>
                    <a:pt x="80772" y="360680"/>
                    <a:pt x="0" y="279908"/>
                    <a:pt x="0" y="180340"/>
                  </a:cubicBezTo>
                  <a:close/>
                </a:path>
              </a:pathLst>
            </a:custGeom>
            <a:solidFill>
              <a:srgbClr val="16334F"/>
            </a:solidFill>
            <a:ln w="1693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8938951" y="3336801"/>
            <a:ext cx="253594" cy="253594"/>
            <a:chOff x="0" y="0"/>
            <a:chExt cx="338125" cy="338125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38125" cy="338125"/>
            </a:xfrm>
            <a:custGeom>
              <a:avLst/>
              <a:gdLst/>
              <a:ahLst/>
              <a:cxnLst/>
              <a:rect l="l" t="t" r="r" b="b"/>
              <a:pathLst>
                <a:path w="338125" h="338125">
                  <a:moveTo>
                    <a:pt x="0" y="0"/>
                  </a:moveTo>
                  <a:lnTo>
                    <a:pt x="338125" y="0"/>
                  </a:lnTo>
                  <a:lnTo>
                    <a:pt x="338125" y="338125"/>
                  </a:lnTo>
                  <a:lnTo>
                    <a:pt x="0" y="338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338125" cy="366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15"/>
                </a:lnSpc>
              </a:pPr>
              <a:r>
                <a:rPr lang="en-US" sz="101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037914" y="4154932"/>
            <a:ext cx="1511808" cy="292608"/>
            <a:chOff x="0" y="0"/>
            <a:chExt cx="2015744" cy="39014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015744" cy="390144"/>
            </a:xfrm>
            <a:custGeom>
              <a:avLst/>
              <a:gdLst/>
              <a:ahLst/>
              <a:cxnLst/>
              <a:rect l="l" t="t" r="r" b="b"/>
              <a:pathLst>
                <a:path w="2015744" h="390144">
                  <a:moveTo>
                    <a:pt x="0" y="0"/>
                  </a:moveTo>
                  <a:lnTo>
                    <a:pt x="2015744" y="0"/>
                  </a:lnTo>
                  <a:lnTo>
                    <a:pt x="2015744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28575"/>
              <a:ext cx="2015744" cy="41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43"/>
                </a:lnSpc>
              </a:pPr>
              <a:r>
                <a:rPr lang="en-US" sz="1119" b="1">
                  <a:solidFill>
                    <a:srgbClr val="1633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8129354" y="4444949"/>
            <a:ext cx="132892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5"/>
              </a:lnSpc>
            </a:pPr>
            <a:r>
              <a:rPr lang="en-US" sz="853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React</a:t>
            </a:r>
          </a:p>
          <a:p>
            <a:pPr algn="ctr">
              <a:lnSpc>
                <a:spcPts val="1075"/>
              </a:lnSpc>
            </a:pPr>
            <a:r>
              <a:rPr lang="en-US" sz="853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findings UI</a:t>
            </a:r>
          </a:p>
        </p:txBody>
      </p:sp>
      <p:sp>
        <p:nvSpPr>
          <p:cNvPr id="98" name="AutoShape 98"/>
          <p:cNvSpPr/>
          <p:nvPr/>
        </p:nvSpPr>
        <p:spPr>
          <a:xfrm>
            <a:off x="1214861" y="3725368"/>
            <a:ext cx="907896" cy="20318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9" name="AutoShape 99"/>
          <p:cNvSpPr/>
          <p:nvPr/>
        </p:nvSpPr>
        <p:spPr>
          <a:xfrm>
            <a:off x="2102438" y="2818283"/>
            <a:ext cx="20320" cy="1824734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>
            <a:off x="2102445" y="2818281"/>
            <a:ext cx="693322" cy="20323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1" name="AutoShape 101"/>
          <p:cNvSpPr/>
          <p:nvPr/>
        </p:nvSpPr>
        <p:spPr>
          <a:xfrm>
            <a:off x="2102445" y="4622697"/>
            <a:ext cx="693322" cy="20323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02" name="Group 102"/>
          <p:cNvGrpSpPr/>
          <p:nvPr/>
        </p:nvGrpSpPr>
        <p:grpSpPr>
          <a:xfrm>
            <a:off x="1234778" y="3403905"/>
            <a:ext cx="1560576" cy="195072"/>
            <a:chOff x="0" y="0"/>
            <a:chExt cx="2080768" cy="260096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080768" cy="260096"/>
            </a:xfrm>
            <a:custGeom>
              <a:avLst/>
              <a:gdLst/>
              <a:ahLst/>
              <a:cxnLst/>
              <a:rect l="l" t="t" r="r" b="b"/>
              <a:pathLst>
                <a:path w="2080768" h="260096">
                  <a:moveTo>
                    <a:pt x="0" y="0"/>
                  </a:moveTo>
                  <a:lnTo>
                    <a:pt x="2080768" y="0"/>
                  </a:lnTo>
                  <a:lnTo>
                    <a:pt x="2080768" y="260096"/>
                  </a:lnTo>
                  <a:lnTo>
                    <a:pt x="0" y="260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2080768" cy="279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6"/>
                </a:lnSpc>
              </a:pPr>
              <a:endParaRPr lang="en-US" sz="746" i="1" dirty="0">
                <a:solidFill>
                  <a:srgbClr val="5B647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endParaRPr>
            </a:p>
          </p:txBody>
        </p:sp>
      </p:grpSp>
      <p:sp>
        <p:nvSpPr>
          <p:cNvPr id="105" name="AutoShape 105"/>
          <p:cNvSpPr/>
          <p:nvPr/>
        </p:nvSpPr>
        <p:spPr>
          <a:xfrm>
            <a:off x="3458193" y="2818285"/>
            <a:ext cx="810361" cy="20314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6" name="AutoShape 106"/>
          <p:cNvSpPr/>
          <p:nvPr/>
        </p:nvSpPr>
        <p:spPr>
          <a:xfrm>
            <a:off x="3458193" y="4622701"/>
            <a:ext cx="810361" cy="20314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7" name="AutoShape 107"/>
          <p:cNvSpPr/>
          <p:nvPr/>
        </p:nvSpPr>
        <p:spPr>
          <a:xfrm>
            <a:off x="4248230" y="2818283"/>
            <a:ext cx="20320" cy="1824734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8" name="AutoShape 108"/>
          <p:cNvSpPr/>
          <p:nvPr/>
        </p:nvSpPr>
        <p:spPr>
          <a:xfrm>
            <a:off x="4248238" y="3725366"/>
            <a:ext cx="790857" cy="20323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09" name="Group 109"/>
          <p:cNvGrpSpPr/>
          <p:nvPr/>
        </p:nvGrpSpPr>
        <p:grpSpPr>
          <a:xfrm>
            <a:off x="3526874" y="3403905"/>
            <a:ext cx="1463040" cy="195072"/>
            <a:chOff x="0" y="0"/>
            <a:chExt cx="1950720" cy="260096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950720" cy="260096"/>
            </a:xfrm>
            <a:custGeom>
              <a:avLst/>
              <a:gdLst/>
              <a:ahLst/>
              <a:cxnLst/>
              <a:rect l="l" t="t" r="r" b="b"/>
              <a:pathLst>
                <a:path w="1950720" h="260096">
                  <a:moveTo>
                    <a:pt x="0" y="0"/>
                  </a:moveTo>
                  <a:lnTo>
                    <a:pt x="1950720" y="0"/>
                  </a:lnTo>
                  <a:lnTo>
                    <a:pt x="1950720" y="260096"/>
                  </a:lnTo>
                  <a:lnTo>
                    <a:pt x="0" y="260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1950720" cy="279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6"/>
                </a:lnSpc>
              </a:pPr>
              <a:r>
                <a:rPr lang="en-US" sz="746" i="1">
                  <a:solidFill>
                    <a:srgbClr val="5B64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correlated finding</a:t>
              </a:r>
            </a:p>
          </p:txBody>
        </p:sp>
      </p:grpSp>
      <p:sp>
        <p:nvSpPr>
          <p:cNvPr id="112" name="AutoShape 112"/>
          <p:cNvSpPr/>
          <p:nvPr/>
        </p:nvSpPr>
        <p:spPr>
          <a:xfrm>
            <a:off x="5721030" y="3725362"/>
            <a:ext cx="1268777" cy="20330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3" name="AutoShape 113"/>
          <p:cNvSpPr/>
          <p:nvPr/>
        </p:nvSpPr>
        <p:spPr>
          <a:xfrm>
            <a:off x="7671743" y="3725369"/>
            <a:ext cx="781100" cy="20317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14" name="Group 114"/>
          <p:cNvGrpSpPr/>
          <p:nvPr/>
        </p:nvGrpSpPr>
        <p:grpSpPr>
          <a:xfrm>
            <a:off x="7306394" y="3505733"/>
            <a:ext cx="1463040" cy="195072"/>
            <a:chOff x="0" y="0"/>
            <a:chExt cx="1950720" cy="260096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950720" cy="260096"/>
            </a:xfrm>
            <a:custGeom>
              <a:avLst/>
              <a:gdLst/>
              <a:ahLst/>
              <a:cxnLst/>
              <a:rect l="l" t="t" r="r" b="b"/>
              <a:pathLst>
                <a:path w="1950720" h="260096">
                  <a:moveTo>
                    <a:pt x="0" y="0"/>
                  </a:moveTo>
                  <a:lnTo>
                    <a:pt x="1950720" y="0"/>
                  </a:lnTo>
                  <a:lnTo>
                    <a:pt x="1950720" y="260096"/>
                  </a:lnTo>
                  <a:lnTo>
                    <a:pt x="0" y="260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19050"/>
              <a:ext cx="1950720" cy="279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6"/>
                </a:lnSpc>
              </a:pPr>
              <a:r>
                <a:rPr lang="en-US" sz="746" i="1">
                  <a:solidFill>
                    <a:srgbClr val="5B64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verified patch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5175233" y="5354625"/>
            <a:ext cx="409651" cy="409651"/>
            <a:chOff x="0" y="0"/>
            <a:chExt cx="546202" cy="546202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546227" cy="546227"/>
            </a:xfrm>
            <a:custGeom>
              <a:avLst/>
              <a:gdLst/>
              <a:ahLst/>
              <a:cxnLst/>
              <a:rect l="l" t="t" r="r" b="b"/>
              <a:pathLst>
                <a:path w="546227" h="546227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442214" y="0"/>
                  </a:lnTo>
                  <a:cubicBezTo>
                    <a:pt x="499618" y="0"/>
                    <a:pt x="546227" y="46609"/>
                    <a:pt x="546227" y="104013"/>
                  </a:cubicBezTo>
                  <a:lnTo>
                    <a:pt x="546227" y="442214"/>
                  </a:lnTo>
                  <a:cubicBezTo>
                    <a:pt x="546227" y="499618"/>
                    <a:pt x="499618" y="546227"/>
                    <a:pt x="442214" y="546227"/>
                  </a:cubicBezTo>
                  <a:lnTo>
                    <a:pt x="104013" y="546227"/>
                  </a:lnTo>
                  <a:cubicBezTo>
                    <a:pt x="46609" y="546227"/>
                    <a:pt x="0" y="499618"/>
                    <a:pt x="0" y="442214"/>
                  </a:cubicBezTo>
                  <a:close/>
                </a:path>
              </a:pathLst>
            </a:custGeom>
            <a:solidFill>
              <a:srgbClr val="6B7A90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5263015" y="5442407"/>
            <a:ext cx="234086" cy="234086"/>
            <a:chOff x="0" y="0"/>
            <a:chExt cx="312115" cy="312115"/>
          </a:xfrm>
        </p:grpSpPr>
        <p:sp>
          <p:nvSpPr>
            <p:cNvPr id="120" name="Freeform 120" descr="icons2/book.png"/>
            <p:cNvSpPr/>
            <p:nvPr/>
          </p:nvSpPr>
          <p:spPr>
            <a:xfrm>
              <a:off x="0" y="0"/>
              <a:ext cx="312166" cy="312166"/>
            </a:xfrm>
            <a:custGeom>
              <a:avLst/>
              <a:gdLst/>
              <a:ahLst/>
              <a:cxnLst/>
              <a:rect l="l" t="t" r="r" b="b"/>
              <a:pathLst>
                <a:path w="312166" h="312166">
                  <a:moveTo>
                    <a:pt x="0" y="0"/>
                  </a:moveTo>
                  <a:lnTo>
                    <a:pt x="312166" y="0"/>
                  </a:lnTo>
                  <a:lnTo>
                    <a:pt x="312166" y="312166"/>
                  </a:lnTo>
                  <a:lnTo>
                    <a:pt x="0" y="312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16" b="16"/>
              </a:stretch>
            </a:blipFill>
          </p:spPr>
        </p:sp>
      </p:grpSp>
      <p:grpSp>
        <p:nvGrpSpPr>
          <p:cNvPr id="121" name="Group 121"/>
          <p:cNvGrpSpPr/>
          <p:nvPr/>
        </p:nvGrpSpPr>
        <p:grpSpPr>
          <a:xfrm>
            <a:off x="4404698" y="5822798"/>
            <a:ext cx="1950720" cy="409651"/>
            <a:chOff x="0" y="0"/>
            <a:chExt cx="2600960" cy="546202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2600960" cy="546202"/>
            </a:xfrm>
            <a:custGeom>
              <a:avLst/>
              <a:gdLst/>
              <a:ahLst/>
              <a:cxnLst/>
              <a:rect l="l" t="t" r="r" b="b"/>
              <a:pathLst>
                <a:path w="2600960" h="546202">
                  <a:moveTo>
                    <a:pt x="0" y="0"/>
                  </a:moveTo>
                  <a:lnTo>
                    <a:pt x="2600960" y="0"/>
                  </a:lnTo>
                  <a:lnTo>
                    <a:pt x="2600960" y="546202"/>
                  </a:lnTo>
                  <a:lnTo>
                    <a:pt x="0" y="5462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85" b="-42785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19050"/>
              <a:ext cx="2600960" cy="5652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08"/>
                </a:lnSpc>
              </a:pPr>
              <a:r>
                <a:rPr lang="en-US" sz="8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MITRE CWE v4.20</a:t>
              </a:r>
            </a:p>
            <a:p>
              <a:pPr algn="ctr">
                <a:lnSpc>
                  <a:spcPts val="1008"/>
                </a:lnSpc>
              </a:pPr>
              <a:r>
                <a:rPr lang="en-US" sz="8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(CWE knowledge base \ reference corpus)</a:t>
              </a:r>
            </a:p>
          </p:txBody>
        </p:sp>
      </p:grpSp>
      <p:sp>
        <p:nvSpPr>
          <p:cNvPr id="124" name="AutoShape 124"/>
          <p:cNvSpPr/>
          <p:nvPr/>
        </p:nvSpPr>
        <p:spPr>
          <a:xfrm>
            <a:off x="5380058" y="4520108"/>
            <a:ext cx="10160" cy="844679"/>
          </a:xfrm>
          <a:prstGeom prst="line">
            <a:avLst/>
          </a:prstGeom>
          <a:ln w="19050" cap="rnd">
            <a:solidFill>
              <a:srgbClr val="9AA7B8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25" name="AutoShape 125"/>
          <p:cNvSpPr/>
          <p:nvPr/>
        </p:nvSpPr>
        <p:spPr>
          <a:xfrm>
            <a:off x="8785353" y="4897492"/>
            <a:ext cx="16930" cy="1879873"/>
          </a:xfrm>
          <a:prstGeom prst="line">
            <a:avLst/>
          </a:prstGeom>
          <a:ln w="28575" cap="rnd">
            <a:solidFill>
              <a:srgbClr val="C0662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6" name="AutoShape 126"/>
          <p:cNvSpPr/>
          <p:nvPr/>
        </p:nvSpPr>
        <p:spPr>
          <a:xfrm>
            <a:off x="884934" y="6760399"/>
            <a:ext cx="7917352" cy="16997"/>
          </a:xfrm>
          <a:prstGeom prst="line">
            <a:avLst/>
          </a:prstGeom>
          <a:ln w="28575" cap="rnd">
            <a:solidFill>
              <a:srgbClr val="C0662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7" name="AutoShape 127"/>
          <p:cNvSpPr/>
          <p:nvPr/>
        </p:nvSpPr>
        <p:spPr>
          <a:xfrm>
            <a:off x="884937" y="4897492"/>
            <a:ext cx="16930" cy="1879873"/>
          </a:xfrm>
          <a:prstGeom prst="line">
            <a:avLst/>
          </a:prstGeom>
          <a:ln w="28575" cap="rnd">
            <a:solidFill>
              <a:srgbClr val="C0662B"/>
            </a:solidFill>
            <a:prstDash val="solid"/>
            <a:headEnd type="triangle" w="lg" len="med"/>
            <a:tailEnd type="none" w="sm" len="sm"/>
          </a:ln>
        </p:spPr>
      </p:sp>
      <p:grpSp>
        <p:nvGrpSpPr>
          <p:cNvPr id="128" name="Group 128"/>
          <p:cNvGrpSpPr/>
          <p:nvPr/>
        </p:nvGrpSpPr>
        <p:grpSpPr>
          <a:xfrm>
            <a:off x="2112602" y="6827418"/>
            <a:ext cx="4486656" cy="243840"/>
            <a:chOff x="0" y="0"/>
            <a:chExt cx="5982208" cy="32512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5982208" cy="325120"/>
            </a:xfrm>
            <a:custGeom>
              <a:avLst/>
              <a:gdLst/>
              <a:ahLst/>
              <a:cxnLst/>
              <a:rect l="l" t="t" r="r" b="b"/>
              <a:pathLst>
                <a:path w="5982208" h="325120">
                  <a:moveTo>
                    <a:pt x="0" y="0"/>
                  </a:moveTo>
                  <a:lnTo>
                    <a:pt x="5982208" y="0"/>
                  </a:lnTo>
                  <a:lnTo>
                    <a:pt x="5982208" y="325120"/>
                  </a:lnTo>
                  <a:lnTo>
                    <a:pt x="0" y="325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524" b="-308524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19050"/>
              <a:ext cx="5982208" cy="344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43"/>
                </a:lnSpc>
              </a:pPr>
              <a:r>
                <a:rPr lang="en-US" sz="953" i="1">
                  <a:solidFill>
                    <a:srgbClr val="9A6B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verified / unresolved status  →  PR comment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C92F2-928C-13DC-ABE7-AAACF11F0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41113B-81F6-80E8-CFC1-33CE849113EA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7C774DA-831A-4E1D-108A-33E46E86A541}"/>
              </a:ext>
            </a:extLst>
          </p:cNvPr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AF19DC3-1038-30BE-4604-ADEFBB22A099}"/>
              </a:ext>
            </a:extLst>
          </p:cNvPr>
          <p:cNvSpPr txBox="1"/>
          <p:nvPr/>
        </p:nvSpPr>
        <p:spPr>
          <a:xfrm>
            <a:off x="76200" y="1524000"/>
            <a:ext cx="967740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Static Application Security Testing (SAST) Tools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C8EF872-0BB1-EA4B-F1DB-F8CAA59AFDC4}"/>
              </a:ext>
            </a:extLst>
          </p:cNvPr>
          <p:cNvSpPr txBox="1"/>
          <p:nvPr/>
        </p:nvSpPr>
        <p:spPr>
          <a:xfrm>
            <a:off x="246619" y="2422098"/>
            <a:ext cx="9269887" cy="4638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 Bold"/>
              </a:rPr>
              <a:t>Detect potential security vulnerabilities by analyzing source code without executing the application.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Workflow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Semgrep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Uses configurable rules and pattern matching to identify insecure coding practices and vulnerability patterns.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Bandit: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 Analyzes Python code using its Abstract Syntax Tree (AST) to detect common security issues.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Finding Detection: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 Reports vulnerability descriptions, affected code locations, line numbers, and severity information where available.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Result Aggregation: 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Combines findings from both scanners to improve detection coverage.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7693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3F15-1B42-D350-AAF7-6ECD41240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FBE33E-87B4-8AC6-5E4E-BB6D7774658E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5C5F4AE-0344-CDCA-B5A2-161963BA67A0}"/>
              </a:ext>
            </a:extLst>
          </p:cNvPr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5E24FC4-28A1-43AC-060D-59E3E35A0BF6}"/>
              </a:ext>
            </a:extLst>
          </p:cNvPr>
          <p:cNvSpPr txBox="1"/>
          <p:nvPr/>
        </p:nvSpPr>
        <p:spPr>
          <a:xfrm>
            <a:off x="838200" y="1524000"/>
            <a:ext cx="838200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Retrieval Augmented Generation (RAG)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F0977D7-2EC3-A12F-2A6B-5A83D142F3EB}"/>
              </a:ext>
            </a:extLst>
          </p:cNvPr>
          <p:cNvSpPr txBox="1"/>
          <p:nvPr/>
        </p:nvSpPr>
        <p:spPr>
          <a:xfrm>
            <a:off x="246619" y="2422098"/>
            <a:ext cx="9269887" cy="4997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 Bold"/>
              </a:rPr>
              <a:t>To provide the AI assistant with relevant cybersecurity knowledge so it can generate context-aware vulnerability explanations and remediation recommendations.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Workflow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Base: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CWE Top 25 and OWASP Top 10.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Chunking &amp; Embeddings: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Documents are split into chunks and converted into vectors using BGE embeddings.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Retrieval: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security information is retrieved based on semantic similarity.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Augmentation: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Retrieved knowledge is combined with code snippets and vulnerability findings.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Generation: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LLM generates contextual vulnerability explanations and remediation suggestions.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728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3B6E2-9258-CE08-B2BD-77E686F8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362CF7-0636-54D9-5CD1-00DB67877FE6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38927B5-45C9-0BD4-0D09-FFBD9D590E81}"/>
              </a:ext>
            </a:extLst>
          </p:cNvPr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4D21F66-470F-7020-04F3-783B52BED06D}"/>
              </a:ext>
            </a:extLst>
          </p:cNvPr>
          <p:cNvSpPr txBox="1"/>
          <p:nvPr/>
        </p:nvSpPr>
        <p:spPr>
          <a:xfrm>
            <a:off x="1676400" y="1676400"/>
            <a:ext cx="6730046" cy="64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RAG in Practice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9FC848-5310-806F-7D13-DDF0A302B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743200"/>
            <a:ext cx="9296400" cy="275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5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0CF2-BE57-0FEF-91D5-4D80C53B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EECA27-E909-1715-2E34-F16141006656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17D52EB-AEB6-6025-6739-3967EAE6676A}"/>
              </a:ext>
            </a:extLst>
          </p:cNvPr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E3B692-4F50-61CF-E6E0-2309E7B3888F}"/>
              </a:ext>
            </a:extLst>
          </p:cNvPr>
          <p:cNvSpPr txBox="1"/>
          <p:nvPr/>
        </p:nvSpPr>
        <p:spPr>
          <a:xfrm>
            <a:off x="304800" y="1524000"/>
            <a:ext cx="922020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LLM - Explanation and Remediation Assistant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B7BB66D-FFC4-2728-627C-1009BF0D1383}"/>
              </a:ext>
            </a:extLst>
          </p:cNvPr>
          <p:cNvSpPr txBox="1"/>
          <p:nvPr/>
        </p:nvSpPr>
        <p:spPr>
          <a:xfrm>
            <a:off x="246619" y="2422098"/>
            <a:ext cx="9269887" cy="4638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 Bold"/>
              </a:rPr>
              <a:t>Converts vulnerability findings into understandable explanations and actionable remediation recommendations.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Workflow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Context Integration: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 Uses scanner findings,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CodeBERT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 predictions, and retrieved CWE/OWASP knowledge.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Vulnerability Explanation: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 Describes the security issue, its potential impact, and the underlying cause.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Code Remediation: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 Suggests secure code alternatives and explains why they reduce risk.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Context-Aware Generation: 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Generates recommendations based on the detected issue and available security references.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018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D87F0-7CF7-EF12-E4D4-B765E491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90D23E-2C1E-C317-FE68-4242A53BD37E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381E1E0-E2DA-5F24-85F2-172C67820E85}"/>
              </a:ext>
            </a:extLst>
          </p:cNvPr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86F4E2B-2050-82E2-FFD3-ABD68D0B6EE9}"/>
              </a:ext>
            </a:extLst>
          </p:cNvPr>
          <p:cNvSpPr txBox="1"/>
          <p:nvPr/>
        </p:nvSpPr>
        <p:spPr>
          <a:xfrm>
            <a:off x="304800" y="1524000"/>
            <a:ext cx="922020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 Aggregation and Patch Verification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21B4C3F-C7F2-D6C2-A4F3-03FE16EDBBAF}"/>
              </a:ext>
            </a:extLst>
          </p:cNvPr>
          <p:cNvSpPr txBox="1"/>
          <p:nvPr/>
        </p:nvSpPr>
        <p:spPr>
          <a:xfrm>
            <a:off x="246619" y="2422098"/>
            <a:ext cx="9269887" cy="427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  <a:sym typeface="Times New Roman Bold"/>
              </a:rPr>
              <a:t>Consolidates detection results and evaluates whether proposed code changes address identified vulnerabilities.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Workflow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Normalization: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Semgrep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Bandit, and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CodeBERT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outputs into a consistent format.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Correlation: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Groups overlapping findings while preserving source details, code locations, and detection evidence.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Patch Verification: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Re-runs relevant security scans on modified code to check whether the original findings persist.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Reporting: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Presents remaining findings and verification status.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385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E862-FD0D-ACBA-8C7D-1CAB80A0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0AF63C-AA22-7F86-28B2-2D08025CDF5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5E4B9E-704D-5296-56E6-AC43F72A16BB}"/>
              </a:ext>
            </a:extLst>
          </p:cNvPr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3E0FB6E-D700-E01B-73DC-AAF444418EB5}"/>
              </a:ext>
            </a:extLst>
          </p:cNvPr>
          <p:cNvSpPr txBox="1"/>
          <p:nvPr/>
        </p:nvSpPr>
        <p:spPr>
          <a:xfrm>
            <a:off x="381000" y="1676400"/>
            <a:ext cx="9067800" cy="646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LLM and Patch Verification in 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C3EF4-9728-90F7-753D-06B420589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590800"/>
            <a:ext cx="8001000" cy="412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29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27516" y="2340741"/>
            <a:ext cx="6198075" cy="1719319"/>
          </a:xfrm>
          <a:custGeom>
            <a:avLst/>
            <a:gdLst/>
            <a:ahLst/>
            <a:cxnLst/>
            <a:rect l="l" t="t" r="r" b="b"/>
            <a:pathLst>
              <a:path w="6198075" h="1719319">
                <a:moveTo>
                  <a:pt x="0" y="0"/>
                </a:moveTo>
                <a:lnTo>
                  <a:pt x="6198074" y="0"/>
                </a:lnTo>
                <a:lnTo>
                  <a:pt x="6198074" y="1719318"/>
                </a:lnTo>
                <a:lnTo>
                  <a:pt x="0" y="1719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743" b="-374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298039" y="1436462"/>
            <a:ext cx="542505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Pre-Processing of 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4486163"/>
            <a:ext cx="8558093" cy="230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540" lvl="1" indent="-189270" algn="l">
              <a:lnSpc>
                <a:spcPts val="2209"/>
              </a:lnSpc>
              <a:buFont typeface="Arial"/>
              <a:buChar char="•"/>
            </a:pPr>
            <a:r>
              <a:rPr lang="en-US" sz="17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Cleaned the dataset by removing missing and duplicate source-code samples.</a:t>
            </a:r>
          </a:p>
          <a:p>
            <a:pPr algn="l">
              <a:lnSpc>
                <a:spcPts val="2209"/>
              </a:lnSpc>
            </a:pPr>
            <a:endParaRPr lang="en-US" sz="17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78540" lvl="1" indent="-189270" algn="l">
              <a:lnSpc>
                <a:spcPts val="2209"/>
              </a:lnSpc>
              <a:buFont typeface="Arial"/>
              <a:buChar char="•"/>
            </a:pPr>
            <a:r>
              <a:rPr lang="en-US" sz="17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Prevented data leakage through source-code normalization and overlap checks across splits.</a:t>
            </a:r>
          </a:p>
          <a:p>
            <a:pPr algn="l">
              <a:lnSpc>
                <a:spcPts val="2209"/>
              </a:lnSpc>
            </a:pPr>
            <a:endParaRPr lang="en-US" sz="17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78540" lvl="1" indent="-189270" algn="l">
              <a:lnSpc>
                <a:spcPts val="2209"/>
              </a:lnSpc>
              <a:buFont typeface="Arial"/>
              <a:buChar char="•"/>
            </a:pPr>
            <a:r>
              <a:rPr lang="en-US" sz="17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the data into training, validation, and test sets while preserving class distribution.</a:t>
            </a:r>
          </a:p>
          <a:p>
            <a:pPr algn="l">
              <a:lnSpc>
                <a:spcPts val="2209"/>
              </a:lnSpc>
            </a:pPr>
            <a:endParaRPr lang="en-US" sz="17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78540" lvl="1" indent="-189270" algn="l">
              <a:lnSpc>
                <a:spcPts val="2209"/>
              </a:lnSpc>
              <a:buFont typeface="Arial"/>
              <a:buChar char="•"/>
            </a:pPr>
            <a:r>
              <a:rPr lang="en-US" sz="17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code chunks using 512-token sliding windows with a 128-token stride for Code</a:t>
            </a:r>
          </a:p>
          <a:p>
            <a:pPr algn="l">
              <a:lnSpc>
                <a:spcPts val="2839"/>
              </a:lnSpc>
              <a:spcBef>
                <a:spcPct val="0"/>
              </a:spcBef>
            </a:pPr>
            <a:endParaRPr lang="en-US" sz="17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485482"/>
            <a:ext cx="5267012" cy="3572797"/>
          </a:xfrm>
          <a:custGeom>
            <a:avLst/>
            <a:gdLst/>
            <a:ahLst/>
            <a:cxnLst/>
            <a:rect l="l" t="t" r="r" b="b"/>
            <a:pathLst>
              <a:path w="5267012" h="3572797">
                <a:moveTo>
                  <a:pt x="0" y="0"/>
                </a:moveTo>
                <a:lnTo>
                  <a:pt x="5267012" y="0"/>
                </a:lnTo>
                <a:lnTo>
                  <a:pt x="5267012" y="3572797"/>
                </a:lnTo>
                <a:lnTo>
                  <a:pt x="0" y="3572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48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580032" y="2343499"/>
            <a:ext cx="3997303" cy="3752501"/>
          </a:xfrm>
          <a:custGeom>
            <a:avLst/>
            <a:gdLst/>
            <a:ahLst/>
            <a:cxnLst/>
            <a:rect l="l" t="t" r="r" b="b"/>
            <a:pathLst>
              <a:path w="3997303" h="3752501">
                <a:moveTo>
                  <a:pt x="0" y="0"/>
                </a:moveTo>
                <a:lnTo>
                  <a:pt x="3997303" y="0"/>
                </a:lnTo>
                <a:lnTo>
                  <a:pt x="3997303" y="3752501"/>
                </a:lnTo>
                <a:lnTo>
                  <a:pt x="0" y="3752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0" b="-5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0" y="1447800"/>
            <a:ext cx="6730046" cy="64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Dataset Class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1520" y="2439763"/>
            <a:ext cx="5326367" cy="4360395"/>
          </a:xfrm>
          <a:custGeom>
            <a:avLst/>
            <a:gdLst/>
            <a:ahLst/>
            <a:cxnLst/>
            <a:rect l="l" t="t" r="r" b="b"/>
            <a:pathLst>
              <a:path w="5326367" h="4360395">
                <a:moveTo>
                  <a:pt x="0" y="0"/>
                </a:moveTo>
                <a:lnTo>
                  <a:pt x="5326367" y="0"/>
                </a:lnTo>
                <a:lnTo>
                  <a:pt x="5326367" y="4360395"/>
                </a:lnTo>
                <a:lnTo>
                  <a:pt x="0" y="4360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9" t="-319" b="-31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0" y="1406227"/>
            <a:ext cx="673004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Confusion Matrix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92745" y="2644140"/>
            <a:ext cx="3230761" cy="107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Confusion Matrix (Positive = Vulnerable)</a:t>
            </a:r>
          </a:p>
          <a:p>
            <a:pPr algn="ctr">
              <a:lnSpc>
                <a:spcPts val="1819"/>
              </a:lnSpc>
            </a:pPr>
            <a:endParaRPr lang="en-US" sz="12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819"/>
              </a:lnSpc>
            </a:pPr>
            <a:r>
              <a:rPr lang="en-US" sz="1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TP = 1559 | TN = 1893 | FP = 69 | FN = 42</a:t>
            </a:r>
          </a:p>
          <a:p>
            <a:pPr algn="ctr">
              <a:lnSpc>
                <a:spcPts val="1540"/>
              </a:lnSpc>
            </a:pPr>
            <a:endParaRPr lang="en-US" sz="12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1540"/>
              </a:lnSpc>
            </a:pPr>
            <a:endParaRPr lang="en-US" sz="12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114" y="3018137"/>
            <a:ext cx="4774449" cy="3685339"/>
          </a:xfrm>
          <a:custGeom>
            <a:avLst/>
            <a:gdLst/>
            <a:ahLst/>
            <a:cxnLst/>
            <a:rect l="l" t="t" r="r" b="b"/>
            <a:pathLst>
              <a:path w="4774449" h="3685339">
                <a:moveTo>
                  <a:pt x="0" y="0"/>
                </a:moveTo>
                <a:lnTo>
                  <a:pt x="4774448" y="0"/>
                </a:lnTo>
                <a:lnTo>
                  <a:pt x="4774448" y="3685338"/>
                </a:lnTo>
                <a:lnTo>
                  <a:pt x="0" y="3685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2859" b="-1018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38343" y="3870225"/>
            <a:ext cx="4410900" cy="2833250"/>
          </a:xfrm>
          <a:custGeom>
            <a:avLst/>
            <a:gdLst/>
            <a:ahLst/>
            <a:cxnLst/>
            <a:rect l="l" t="t" r="r" b="b"/>
            <a:pathLst>
              <a:path w="4410900" h="2833250">
                <a:moveTo>
                  <a:pt x="0" y="0"/>
                </a:moveTo>
                <a:lnTo>
                  <a:pt x="4410900" y="0"/>
                </a:lnTo>
                <a:lnTo>
                  <a:pt x="4410900" y="2833250"/>
                </a:lnTo>
                <a:lnTo>
                  <a:pt x="0" y="2833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4" r="-424" b="-273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01081" y="936652"/>
            <a:ext cx="2748162" cy="2791783"/>
          </a:xfrm>
          <a:custGeom>
            <a:avLst/>
            <a:gdLst/>
            <a:ahLst/>
            <a:cxnLst/>
            <a:rect l="l" t="t" r="r" b="b"/>
            <a:pathLst>
              <a:path w="2748162" h="2791783">
                <a:moveTo>
                  <a:pt x="0" y="0"/>
                </a:moveTo>
                <a:lnTo>
                  <a:pt x="2748162" y="0"/>
                </a:lnTo>
                <a:lnTo>
                  <a:pt x="2748162" y="2791784"/>
                </a:lnTo>
                <a:lnTo>
                  <a:pt x="0" y="2791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0" y="1459283"/>
            <a:ext cx="6730046" cy="64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Model Training and Metrics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525436"/>
            <a:ext cx="4702204" cy="3530723"/>
          </a:xfrm>
          <a:custGeom>
            <a:avLst/>
            <a:gdLst/>
            <a:ahLst/>
            <a:cxnLst/>
            <a:rect l="l" t="t" r="r" b="b"/>
            <a:pathLst>
              <a:path w="4702204" h="3530723">
                <a:moveTo>
                  <a:pt x="0" y="0"/>
                </a:moveTo>
                <a:lnTo>
                  <a:pt x="4702204" y="0"/>
                </a:lnTo>
                <a:lnTo>
                  <a:pt x="4702204" y="3530723"/>
                </a:lnTo>
                <a:lnTo>
                  <a:pt x="0" y="3530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" r="-17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55917" y="2982003"/>
            <a:ext cx="5097683" cy="3074155"/>
          </a:xfrm>
          <a:custGeom>
            <a:avLst/>
            <a:gdLst/>
            <a:ahLst/>
            <a:cxnLst/>
            <a:rect l="l" t="t" r="r" b="b"/>
            <a:pathLst>
              <a:path w="5097683" h="3074155">
                <a:moveTo>
                  <a:pt x="0" y="0"/>
                </a:moveTo>
                <a:lnTo>
                  <a:pt x="5097683" y="0"/>
                </a:lnTo>
                <a:lnTo>
                  <a:pt x="5097683" y="3074156"/>
                </a:lnTo>
                <a:lnTo>
                  <a:pt x="0" y="307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0" y="1524000"/>
            <a:ext cx="673004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Model Training Score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6539" y="1997171"/>
            <a:ext cx="6730046" cy="3820596"/>
          </a:xfrm>
          <a:custGeom>
            <a:avLst/>
            <a:gdLst/>
            <a:ahLst/>
            <a:cxnLst/>
            <a:rect l="l" t="t" r="r" b="b"/>
            <a:pathLst>
              <a:path w="6730046" h="3820596">
                <a:moveTo>
                  <a:pt x="0" y="0"/>
                </a:moveTo>
                <a:lnTo>
                  <a:pt x="6730047" y="0"/>
                </a:lnTo>
                <a:lnTo>
                  <a:pt x="6730047" y="3820597"/>
                </a:lnTo>
                <a:lnTo>
                  <a:pt x="0" y="3820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5" b="-41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324901" y="1143289"/>
            <a:ext cx="673004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9088" y="2051809"/>
            <a:ext cx="6361673" cy="3502354"/>
          </a:xfrm>
          <a:custGeom>
            <a:avLst/>
            <a:gdLst/>
            <a:ahLst/>
            <a:cxnLst/>
            <a:rect l="l" t="t" r="r" b="b"/>
            <a:pathLst>
              <a:path w="6361673" h="3502354">
                <a:moveTo>
                  <a:pt x="0" y="0"/>
                </a:moveTo>
                <a:lnTo>
                  <a:pt x="6361672" y="0"/>
                </a:lnTo>
                <a:lnTo>
                  <a:pt x="6361672" y="3502354"/>
                </a:lnTo>
                <a:lnTo>
                  <a:pt x="0" y="35023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324901" y="1143289"/>
            <a:ext cx="673004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4341" y="1973040"/>
            <a:ext cx="6874444" cy="3854258"/>
          </a:xfrm>
          <a:custGeom>
            <a:avLst/>
            <a:gdLst/>
            <a:ahLst/>
            <a:cxnLst/>
            <a:rect l="l" t="t" r="r" b="b"/>
            <a:pathLst>
              <a:path w="6874444" h="3854258">
                <a:moveTo>
                  <a:pt x="0" y="0"/>
                </a:moveTo>
                <a:lnTo>
                  <a:pt x="6874443" y="0"/>
                </a:lnTo>
                <a:lnTo>
                  <a:pt x="6874443" y="3854259"/>
                </a:lnTo>
                <a:lnTo>
                  <a:pt x="0" y="3854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4" b="-93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324901" y="1143289"/>
            <a:ext cx="673004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989158" y="1355131"/>
            <a:ext cx="376575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Remaining Tasks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344" y="2519293"/>
            <a:ext cx="8544436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  <a:spcBef>
                <a:spcPct val="0"/>
              </a:spcBef>
            </a:pPr>
            <a:r>
              <a:rPr lang="en-US" sz="201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Interface: </a:t>
            </a:r>
            <a:r>
              <a:rPr lang="en-US" sz="20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UI development and integration with the completed model pipeline are yet to be completed.</a:t>
            </a:r>
          </a:p>
          <a:p>
            <a:pPr algn="l">
              <a:lnSpc>
                <a:spcPts val="2415"/>
              </a:lnSpc>
              <a:spcBef>
                <a:spcPct val="0"/>
              </a:spcBef>
            </a:pPr>
            <a:endParaRPr lang="en-US" sz="2013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415"/>
              </a:lnSpc>
              <a:spcBef>
                <a:spcPct val="0"/>
              </a:spcBef>
            </a:pPr>
            <a:r>
              <a:rPr lang="en-US" sz="201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Re-evaluation: </a:t>
            </a:r>
            <a:r>
              <a:rPr lang="en-US" sz="20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Re-evaluation of the entire model to validate its performance and results is remaining.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2038" y="3048000"/>
            <a:ext cx="95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-115628" y="1633466"/>
            <a:ext cx="4997190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619" y="2422098"/>
            <a:ext cx="9269887" cy="317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AI Security Copilot addresses key limitations of traditional SAST tools by combining AI-powered analysis, RAG-based security knowledge retrieval, and automated patch verification.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enables developers to identify, understand, remediate, and validate software vulnerabilities within a single intelligent workflow.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its modular architecture and use of industry-standard technologies, the project offers a practical, scalable, and innovative solution for enhancing secure software development.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</TotalTime>
  <Words>858</Words>
  <Application>Microsoft Office PowerPoint</Application>
  <PresentationFormat>Custom</PresentationFormat>
  <Paragraphs>124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Times New Roman Bold</vt:lpstr>
      <vt:lpstr>Calibri (MS) Italics</vt:lpstr>
      <vt:lpstr>Aptos</vt:lpstr>
      <vt:lpstr>Calibri (MS) Bold</vt:lpstr>
      <vt:lpstr>Arial</vt:lpstr>
      <vt:lpstr>Calibri (MS)</vt:lpstr>
      <vt:lpstr>Times New Roman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Capstone_Topic Approval</dc:title>
  <cp:lastModifiedBy>KRISHA CHAWAN - 70322100171</cp:lastModifiedBy>
  <cp:revision>4</cp:revision>
  <dcterms:created xsi:type="dcterms:W3CDTF">2006-08-16T00:00:00Z</dcterms:created>
  <dcterms:modified xsi:type="dcterms:W3CDTF">2026-10-25T08:31:34Z</dcterms:modified>
  <dc:identifier>DAHQSOtJIAk</dc:identifier>
</cp:coreProperties>
</file>